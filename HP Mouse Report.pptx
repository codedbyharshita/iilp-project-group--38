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3"/>
  </p:notesMasterIdLst>
  <p:handoutMasterIdLst>
    <p:handoutMasterId r:id="rId14"/>
  </p:handoutMasterIdLst>
  <p:sldIdLst>
    <p:sldId id="312" r:id="rId5"/>
    <p:sldId id="304" r:id="rId6"/>
    <p:sldId id="282" r:id="rId7"/>
    <p:sldId id="281" r:id="rId8"/>
    <p:sldId id="307" r:id="rId9"/>
    <p:sldId id="314" r:id="rId10"/>
    <p:sldId id="318" r:id="rId11"/>
    <p:sldId id="297" r:id="rId12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5388" autoAdjust="0"/>
  </p:normalViewPr>
  <p:slideViewPr>
    <p:cSldViewPr snapToGrid="0" snapToObjects="1">
      <p:cViewPr varScale="1">
        <p:scale>
          <a:sx n="59" d="100"/>
          <a:sy n="59" d="100"/>
        </p:scale>
        <p:origin x="92" y="62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HP optical Mouse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Product overview</a:t>
            </a:r>
          </a:p>
          <a:p>
            <a:r>
              <a:rPr lang="en-US" dirty="0"/>
              <a:t>Internal construction</a:t>
            </a:r>
          </a:p>
          <a:p>
            <a:r>
              <a:rPr lang="en-US" dirty="0"/>
              <a:t>Functional block diagram</a:t>
            </a:r>
          </a:p>
          <a:p>
            <a:r>
              <a:rPr lang="en-US" dirty="0" err="1"/>
              <a:t>Tinkercad</a:t>
            </a:r>
            <a:r>
              <a:rPr lang="en-US" dirty="0"/>
              <a:t> simulation</a:t>
            </a:r>
          </a:p>
          <a:p>
            <a:r>
              <a:rPr lang="en-US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C8F24C-1FDF-43C0-A004-E014F6295D6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940276" y="2364690"/>
            <a:ext cx="900603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Our project is based on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reverse engineering of an HP </a:t>
            </a:r>
            <a:r>
              <a:rPr lang="en-US" altLang="en-US" sz="2400" b="1" dirty="0">
                <a:solidFill>
                  <a:schemeClr val="tx1"/>
                </a:solidFill>
              </a:rPr>
              <a:t>optical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mouse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 studied the mouse from both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external and internal point of view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main focus is on its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mechanical structure, electronic components, working principle and simulation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/>
          <a:lstStyle/>
          <a:p>
            <a:r>
              <a:rPr lang="en-US" dirty="0"/>
              <a:t>Product overview &amp; external features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603E95-B8D8-4384-AC81-FDB8281EFD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0" y="3801835"/>
            <a:ext cx="615649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mouse has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left and right buttons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scroll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wheel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uses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USB cable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connection with the computer.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outer plastic casing protects the internal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components.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design is compact and made for comfortable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hand movement. 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57601CD8-31BD-4C39-8B8D-4C27DB047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5069" r="5069"/>
          <a:stretch>
            <a:fillRect/>
          </a:stretch>
        </p:blipFill>
        <p:spPr>
          <a:xfrm>
            <a:off x="7414194" y="410780"/>
            <a:ext cx="4344695" cy="644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sz="3200" b="1" dirty="0"/>
              <a:t>Internal Construction &amp; PCB</a:t>
            </a:r>
            <a:br>
              <a:rPr lang="en-US" sz="1200" b="1" dirty="0"/>
            </a:br>
            <a:br>
              <a:rPr lang="en-US" sz="1200" b="1" dirty="0"/>
            </a:br>
            <a:r>
              <a:rPr lang="en-US" sz="1600" dirty="0">
                <a:latin typeface="+mn-lt"/>
              </a:rPr>
              <a:t>After opening the mouse, we can see the </a:t>
            </a:r>
            <a:r>
              <a:rPr lang="en-US" sz="1600" b="1" dirty="0">
                <a:latin typeface="+mn-lt"/>
              </a:rPr>
              <a:t>PCB and mechanical components</a:t>
            </a:r>
            <a:r>
              <a:rPr lang="en-US" sz="1600" dirty="0">
                <a:latin typeface="+mn-lt"/>
              </a:rPr>
              <a:t>.</a:t>
            </a:r>
            <a:br>
              <a:rPr lang="en-US" sz="1600" dirty="0">
                <a:latin typeface="+mn-lt"/>
              </a:rPr>
            </a:b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The PCB contains the </a:t>
            </a:r>
            <a:r>
              <a:rPr lang="en-US" sz="1600" b="1" dirty="0">
                <a:latin typeface="+mn-lt"/>
              </a:rPr>
              <a:t>controller IC, resistors, capacitors, connector and LED/diode components</a:t>
            </a:r>
            <a:r>
              <a:rPr lang="en-US" sz="1600" dirty="0">
                <a:latin typeface="+mn-lt"/>
              </a:rPr>
              <a:t>.</a:t>
            </a:r>
            <a:br>
              <a:rPr lang="en-US" sz="1600" dirty="0">
                <a:latin typeface="+mn-lt"/>
              </a:rPr>
            </a:b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The mouse also contains </a:t>
            </a:r>
            <a:r>
              <a:rPr lang="en-US" sz="1600" b="1" dirty="0">
                <a:latin typeface="+mn-lt"/>
              </a:rPr>
              <a:t>microswitches and a rotary encoder</a:t>
            </a:r>
            <a:r>
              <a:rPr lang="en-US" sz="1600" dirty="0">
                <a:latin typeface="+mn-lt"/>
              </a:rPr>
              <a:t>.</a:t>
            </a:r>
            <a:br>
              <a:rPr lang="en-US" sz="1600" dirty="0">
                <a:latin typeface="+mn-lt"/>
              </a:rPr>
            </a:b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The controller processes the signals coming from these components.</a:t>
            </a:r>
            <a:br>
              <a:rPr lang="en-US" sz="1200" dirty="0"/>
            </a:br>
            <a:endParaRPr lang="en-US" sz="2200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5A50C3D4-BA2A-4744-AD87-7E25069256E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4452" r="4452"/>
          <a:stretch>
            <a:fillRect/>
          </a:stretch>
        </p:blipFill>
        <p:spPr>
          <a:xfrm>
            <a:off x="442913" y="0"/>
            <a:ext cx="4344987" cy="635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810" y="0"/>
            <a:ext cx="7043617" cy="1390882"/>
          </a:xfrm>
        </p:spPr>
        <p:txBody>
          <a:bodyPr/>
          <a:lstStyle/>
          <a:p>
            <a:r>
              <a:rPr lang="en-US" dirty="0"/>
              <a:t>Functional block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5C7D9BC-4BA5-45AB-874D-E74B82E0FCD2}"/>
              </a:ext>
            </a:extLst>
          </p:cNvPr>
          <p:cNvSpPr>
            <a:spLocks noGrp="1" noChangeArrowheads="1"/>
          </p:cNvSpPr>
          <p:nvPr>
            <p:ph idx="11"/>
          </p:nvPr>
        </p:nvSpPr>
        <p:spPr bwMode="auto">
          <a:xfrm>
            <a:off x="3584810" y="1381145"/>
            <a:ext cx="6505395" cy="5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Movement of a mouse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</a:rPr>
              <a:t>Mouse moves over a surface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</a:rPr>
              <a:t>LED/ Optical Light Source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</a:rPr>
              <a:t>Illuminates the surface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</a:rPr>
              <a:t>Lens and optical sensor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</a:rPr>
              <a:t>Captures successive surface images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</a:rPr>
              <a:t>IC/ Microcontroller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</a:rPr>
              <a:t>Calculates movement in X and Y directions.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</a:rPr>
              <a:t>USB 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</a:rPr>
              <a:t>Transmits movement and button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lang="en-US" altLang="en-US" sz="2000" dirty="0">
                <a:solidFill>
                  <a:schemeClr val="tx1"/>
                </a:solidFill>
              </a:rPr>
            </a:br>
            <a:r>
              <a:rPr lang="en-US" altLang="en-US" sz="2000" dirty="0">
                <a:solidFill>
                  <a:schemeClr val="tx1"/>
                </a:solidFill>
              </a:rPr>
              <a:t>Computer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</a:rPr>
              <a:t>Moves the cursor on the screen.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C8A518-92B7-4AEC-9143-D6E1BA480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772" y="834886"/>
            <a:ext cx="3827228" cy="602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dirty="0" err="1"/>
              <a:t>Tinkercad</a:t>
            </a:r>
            <a:r>
              <a:rPr lang="en-US" dirty="0"/>
              <a:t> simulation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153C1B2-9A3D-45B4-98D3-36A6238BDFEB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 bwMode="auto">
          <a:xfrm>
            <a:off x="255631" y="2337684"/>
            <a:ext cx="7480988" cy="4359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3"/>
            <a:ext cx="5715000" cy="1646928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AD420-7292-4F67-8517-15C133564F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2795838"/>
            <a:ext cx="6512781" cy="3533399"/>
          </a:xfrm>
        </p:spPr>
        <p:txBody>
          <a:bodyPr>
            <a:normAutofit/>
          </a:bodyPr>
          <a:lstStyle/>
          <a:p>
            <a:r>
              <a:rPr lang="en-US" dirty="0"/>
              <a:t>By examining the mouse, we identified its major parts including the optical sensor, LED, PCB, switched and USB interface.</a:t>
            </a:r>
          </a:p>
          <a:p>
            <a:r>
              <a:rPr lang="en-US" dirty="0"/>
              <a:t>We studied how optical sensor detects movement and how the IC processes the signals to control cursor movement on the screen. 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{C6E54452-8099-46EB-86D9-BA5EE78EE589}TF8a9b5915-b8c7-461e-8cdd-693d48b5e32371f7b7e2_win32-4bf0b9a2ea37</Template>
  <TotalTime>57</TotalTime>
  <Words>284</Words>
  <Application>Microsoft Office PowerPoint</Application>
  <PresentationFormat>Widescreen</PresentationFormat>
  <Paragraphs>46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Sabon Next LT</vt:lpstr>
      <vt:lpstr>Custom</vt:lpstr>
      <vt:lpstr>HP optical Mouse</vt:lpstr>
      <vt:lpstr>contents</vt:lpstr>
      <vt:lpstr>INTRODUCTION</vt:lpstr>
      <vt:lpstr>Product overview &amp; external features </vt:lpstr>
      <vt:lpstr>Internal Construction &amp; PCB  After opening the mouse, we can see the PCB and mechanical components.  The PCB contains the controller IC, resistors, capacitors, connector and LED/diode components.  The mouse also contains microswitches and a rotary encoder.  The controller processes the signals coming from these components. </vt:lpstr>
      <vt:lpstr>Functional block diagram</vt:lpstr>
      <vt:lpstr>Tinkercad simulation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 Wired Ball Mouse</dc:title>
  <dc:subject/>
  <dc:creator>Harshita Panwar</dc:creator>
  <cp:lastModifiedBy>Harshita Panwar</cp:lastModifiedBy>
  <cp:revision>4</cp:revision>
  <dcterms:created xsi:type="dcterms:W3CDTF">2026-10-08T08:21:09Z</dcterms:created>
  <dcterms:modified xsi:type="dcterms:W3CDTF">2026-10-10T03:57:33Z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